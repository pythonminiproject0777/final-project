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Milling MRR &amp; Power Requirement Estimator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840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 / face milling: table feed, material removal rate and motor power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KAI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KAI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Background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and types of milling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43400" y="16459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Inputs and method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514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Parameters, diagram and formulas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Results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514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and sensitivity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4114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Effects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709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flow, torque, chips, wear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43400" y="384048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17720" y="4114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The tool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4709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Presets, checks and web app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46720" y="384048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4114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Wrap-up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4709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Limits, future work, summary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KAI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Milling removes material with a rotating multi-tooth cutter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time and cost depend on how fast material is removed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spindle motor must supply enough power for the chosen cut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Estimating MRR and power before cutting avoids stalls and tool damage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milling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KAI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45920"/>
            <a:ext cx="6217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 milling: cutter axis parallel to the work surface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milling: cutter axis perpendicular to the surface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milling: slots, pockets and contours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covers slab and face milling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0"/>
            <a:ext cx="4023360" cy="4206240"/>
          </a:xfrm>
          <a:prstGeom prst="roundRect">
            <a:avLst>
              <a:gd name="adj" fmla="val 227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0" y="1874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242316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formulas apply to both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engagement geometry differs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and outputs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KAI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Cutter diameter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teeth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per tooth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 speed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of cut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of cut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219456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feed rate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removal rate (MRR)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spindle motor power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 parameters explained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KAI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7899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400800"/>
                <a:gridCol w="2926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2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2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28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Cutter diameter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teeth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 per tooth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mm/tooth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Cutting speed at the cutter edge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m/min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 of cut (axial)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Width of cut (radial)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diagram: cutter engagement (top view)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KAI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97280" y="2907792"/>
            <a:ext cx="5120640" cy="2926080"/>
          </a:xfrm>
          <a:prstGeom prst="rect">
            <a:avLst/>
          </a:prstGeom>
          <a:solidFill>
            <a:srgbClr val="CBD5E1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5532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Workpiece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0" y="1920240"/>
            <a:ext cx="3291840" cy="3291840"/>
          </a:xfrm>
          <a:prstGeom prst="ellipse">
            <a:avLst/>
          </a:prstGeom>
          <a:solidFill>
            <a:srgbClr val="FFFFFF">
              <a:alpha val="0"/>
            </a:srgbClr>
          </a:solidFill>
          <a:ln w="38100">
            <a:solidFill>
              <a:srgbClr val="E859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21224" y="3483864"/>
            <a:ext cx="164592" cy="164592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39145" y="4647705"/>
            <a:ext cx="164592" cy="164592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75304" y="5129784"/>
            <a:ext cx="164592" cy="164592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11463" y="4647705"/>
            <a:ext cx="164592" cy="164592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29384" y="3483864"/>
            <a:ext cx="164592" cy="164592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11463" y="2320023"/>
            <a:ext cx="164592" cy="164592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75304" y="1837944"/>
            <a:ext cx="164592" cy="164592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39145" y="2320023"/>
            <a:ext cx="164592" cy="164592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93592" y="3502152"/>
            <a:ext cx="128016" cy="128016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0" y="1600200"/>
            <a:ext cx="3291840" cy="0"/>
          </a:xfrm>
          <a:prstGeom prst="line">
            <a:avLst/>
          </a:prstGeom>
          <a:noFill/>
          <a:ln w="19050">
            <a:solidFill>
              <a:srgbClr val="0B7285"/>
            </a:solidFill>
            <a:prstDash val="solid"/>
            <a:headEnd type="triangle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2743200" y="1280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100 mm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92240" y="2907792"/>
            <a:ext cx="0" cy="2304288"/>
          </a:xfrm>
          <a:prstGeom prst="line">
            <a:avLst/>
          </a:prstGeom>
          <a:noFill/>
          <a:ln w="19050">
            <a:solidFill>
              <a:srgbClr val="0B7285"/>
            </a:solidFill>
            <a:prstDash val="solid"/>
            <a:headEnd type="triangle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6629400" y="3566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 = 70 mm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97280" y="6126480"/>
            <a:ext cx="182880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3063240" y="5989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direction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38160" y="1737360"/>
            <a:ext cx="3474720" cy="4206240"/>
          </a:xfrm>
          <a:prstGeom prst="roundRect">
            <a:avLst>
              <a:gd name="adj" fmla="val 263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1248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diagram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0" y="251460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ring: cutter with 8 teeth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area: workpiece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cutter diameter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ae: width of cut, 70% of 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= 3 mm is the depth into the page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 moves the table along the feed direction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KAI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Spindle speed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1000 · Vc / (π · D)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43400" y="16459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feed rate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514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 = fz · z · 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 rate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514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= ae · ap · vf / 1000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4114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 power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709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= MRR · kc / 60 000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43400" y="384048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17720" y="4114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power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4709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= Pc / η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46720" y="384048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4114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Spindle torque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4709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9550 · Pc / 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medium-carbon steel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KAI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48463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194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2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28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Cutter diameter 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mm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Teeth 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 per tooth fz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 mm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Cutting speed Vc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 m/min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/ ae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mm / 70 mm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kc / efficiency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2200 N/mm² / 80%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645920"/>
          <a:ext cx="52120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286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2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28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Spindle speed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573 rpm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feed rate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688 mm/min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 cm³/min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Cutting power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5.29 kW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power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6.62 kW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Torque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 N·m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 force by material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KAI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Workpiece material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2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kc (N/mm²)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28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Aluminium alloy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Brass / bronze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Grey cast iron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Titanium (Ti-6Al-4V)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Mild steel (1020)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Medium-carbon steel (1045)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Stainless steel (304)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Alloy steel (4140)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feed per tooth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KAI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926080"/>
                <a:gridCol w="2651760"/>
                <a:gridCol w="26517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fz (mm/tooth)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2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 rate (mm/min)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2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 (cm³/min)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2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power (kW)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28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6692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setup as the worked example. Power rises in direct proportion to feed, so a 7.5 kW motor limits fz to about 0.17 mm.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flow and efficiency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KAI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45920"/>
            <a:ext cx="6217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 power Pc is what the cut itself consumes: 5.29 kW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motor also feeds gearbox and spindle losses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power = Pc / η, with η = 80%: 6.62 kW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load = required power / rated power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0"/>
            <a:ext cx="4023360" cy="4206240"/>
          </a:xfrm>
          <a:prstGeom prst="roundRect">
            <a:avLst>
              <a:gd name="adj" fmla="val 227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0" y="1874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242316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kW motor: 88% load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80% leaves little headroom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and spindle speed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KAI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45920"/>
            <a:ext cx="6217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T = 9550 · Pc / n, in N·m with Pc in kW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9550 × 5.29 / 573 = 88 N·m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rpm with heavy cuts is torque-limited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rpm with light cuts is power-limited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0"/>
            <a:ext cx="4023360" cy="4206240"/>
          </a:xfrm>
          <a:prstGeom prst="roundRect">
            <a:avLst>
              <a:gd name="adj" fmla="val 227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0" y="1874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242316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machine torque curve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 range matters on older machines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thickness and feed per revolution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KAI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45920"/>
            <a:ext cx="6217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chip thickness hm = fz · √(ae / D)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0.15 × √0.7 = 0.126 mm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per revolution = fz · z = 1.2 mm/rev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 thinner than 0.05 mm cause rubbing and heat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0"/>
            <a:ext cx="4023360" cy="4206240"/>
          </a:xfrm>
          <a:prstGeom prst="roundRect">
            <a:avLst>
              <a:gd name="adj" fmla="val 227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0" y="1874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242316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fz if chips are too thin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 time for 300 mm: about 26 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wear and rake angle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KAI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7899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743200"/>
                <a:gridCol w="40233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2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kc factor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2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power (example)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28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New, sharp tool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1.00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6.62 kW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wear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1.15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7.61 kW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Worn tool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1.30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8.60 kW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Rake angle 0°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1.09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7.21 kW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Rake angle 12°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0.91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6.02 kW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6692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Worn tools can push a comfortable cut past the motor rating, so plan for wear.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Presets in the tool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KAI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7899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280160"/>
                <a:gridCol w="1097280"/>
                <a:gridCol w="1280160"/>
                <a:gridCol w="1280160"/>
                <a:gridCol w="1280160"/>
                <a:gridCol w="1371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2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2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2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2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2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2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28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Steel roughing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Aluminium finishing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Stainless steel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Titanium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Cast iron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6692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Units: D, ap, ae in mm; fz in mm/tooth; Vc in m/min.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checks and warnings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KAI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of cut above cutter diameter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power above the motor rating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load above 80%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of cut large compared with diameter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 thinner than 0.05 mm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application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KAI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outputs update as you type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43400" y="16459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simulation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514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Spinning cutter, sparks and coolant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514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Overload, thin chips and ae above 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4114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Presets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709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Steel, aluminium, stainless, titanium, cast iron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43400" y="384048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17720" y="4114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chart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4709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power against feed per tooth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46720" y="384048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4114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4709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and dark, responsive to 4K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future work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KAI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handbook cutting-force values, so results are estimates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a constant kc and straight-line engagement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more materials and imperial units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report export and saved jobs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10515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cutting inputs give feed rate, MRR and motor power instantly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shows how width of cut sets cutter engagement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Wear, rake angle and chip thickness refine the estimate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by Group KAI. Thank you!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Milling MRR &amp; Power Estimator - Group KAI</dc:title>
  <dc:subject>PptxGenJS Presentation</dc:subject>
  <dc:creator>PptxGenJS</dc:creator>
  <cp:lastModifiedBy>PptxGenJS</cp:lastModifiedBy>
  <cp:revision>1</cp:revision>
  <dcterms:created xsi:type="dcterms:W3CDTF">2026-09-28T08:56:38Z</dcterms:created>
  <dcterms:modified xsi:type="dcterms:W3CDTF">2026-09-28T08:56:38Z</dcterms:modified>
</cp:coreProperties>
</file>